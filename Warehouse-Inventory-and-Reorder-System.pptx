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BM Plex Sans" panose="020B0503050203000203" pitchFamily="34" charset="0"/>
      <p:regular r:id="rId21"/>
    </p:embeddedFont>
    <p:embeddedFont>
      <p:font typeface="IBM Plex Sans Medium" panose="020B0603050203000203" pitchFamily="34" charset="0"/>
      <p:regular r:id="rId22"/>
    </p:embeddedFont>
    <p:embeddedFont>
      <p:font typeface="Space Grotesk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906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40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Warehouse Inventory and Reorder System as a Java application that records products, calculates stock value, processes sales, and warns about low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problems the system must solve: manual records, delayed reorder decisions, difficult validation and search, and the need for one product storage and lookup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screenshots as evidence of the system's output before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how the Java concepts from each CO combine into the Warehouse Inventory and Reorder System, then close with the planned future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93737"/>
            <a:ext cx="6197445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800" b="1" kern="100" spc="-6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Warehouse</a:t>
            </a:r>
            <a:endParaRPr lang="en-US" sz="6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800" b="1" kern="100" spc="-6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Inventory and</a:t>
            </a:r>
            <a:endParaRPr lang="en-US" sz="6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800" b="1" kern="100" spc="-6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Reorder System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609585" y="4292600"/>
            <a:ext cx="6197445" cy="242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Name: Aparna Jha</a:t>
            </a: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 no: 2620030367</a:t>
            </a: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no: 15</a:t>
            </a: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Course: Problem Solving Using Programming (JAVA)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Submitted to: Ms. Swathi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51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68925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Abstract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1517511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Java application that tracks warehouse stock, values inventory, processes sales, and flags low stock before it runs out.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34290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36960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Product records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3578" y="4093190"/>
            <a:ext cx="49782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product details such as ID, name, quantity, and price.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48" y="34290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36960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Stock value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49841" y="4093190"/>
            <a:ext cx="523226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Calculates total stock value across all products.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5" y="50165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4" name="Text 12"/>
          <p:cNvSpPr/>
          <p:nvPr/>
        </p:nvSpPr>
        <p:spPr>
          <a:xfrm>
            <a:off x="863578" y="52835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Sales processing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578" y="5680690"/>
            <a:ext cx="523226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Reduces stock quantities when sales are recorded.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48" y="50165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1" y="52835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Low-stock warnings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49841" y="5680690"/>
            <a:ext cx="523226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Warns when a product falls to its reorder level.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9498" y="3429000"/>
            <a:ext cx="12700" cy="15875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5010150"/>
            <a:ext cx="5486263" cy="127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9498" y="5016500"/>
            <a:ext cx="12700" cy="15875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5010150"/>
            <a:ext cx="5486263" cy="12700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51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689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Understanding the Problem Statement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2096552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stock handling creates errors, slow reorders, and weak lookup.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34290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36960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Manual records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3578" y="4093190"/>
            <a:ext cx="49782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 or scattered records make stock levels hard to trust.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48" y="34290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36960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Delayed reorder decisions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49841" y="4093190"/>
            <a:ext cx="49782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stock is noticed late, so reorders happen after shortages begin.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5" y="50165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4" name="Text 12"/>
          <p:cNvSpPr/>
          <p:nvPr/>
        </p:nvSpPr>
        <p:spPr>
          <a:xfrm>
            <a:off x="863578" y="52835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Validation and search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578" y="5680690"/>
            <a:ext cx="49782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Invalid entries and slow searches make stock data difficult to use.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48" y="5016500"/>
            <a:ext cx="5486263" cy="15875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7" name="Text 15"/>
          <p:cNvSpPr/>
          <p:nvPr/>
        </p:nvSpPr>
        <p:spPr>
          <a:xfrm>
            <a:off x="6349841" y="52835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One storage structure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49841" y="5680690"/>
            <a:ext cx="49782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need one structure for fast storage, lookup, and duplicate checks.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9498" y="3429000"/>
            <a:ext cx="12700" cy="15875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5010150"/>
            <a:ext cx="5486263" cy="127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9498" y="5016500"/>
            <a:ext cx="12700" cy="15875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5848" y="5010150"/>
            <a:ext cx="5486263" cy="12700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62927"/>
            <a:ext cx="345431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51985"/>
            <a:ext cx="3022524" cy="3474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Java system for smarter stock decisions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5395774"/>
            <a:ext cx="3022524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compact program that turns product records into stock actions.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63898" y="0"/>
            <a:ext cx="8127797" cy="6858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7" name="Shape 5"/>
          <p:cNvSpPr/>
          <p:nvPr/>
        </p:nvSpPr>
        <p:spPr>
          <a:xfrm>
            <a:off x="4521087" y="558800"/>
            <a:ext cx="3378115" cy="2553891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56071" y="1232217"/>
            <a:ext cx="2108147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Record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56071" y="1629390"/>
            <a:ext cx="21081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 ID, name, price, quantity, and reorder level.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03995" y="558800"/>
            <a:ext cx="3378115" cy="2553891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8979" y="1232217"/>
            <a:ext cx="2108147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Calculate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38979" y="1629390"/>
            <a:ext cx="21081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stock value and remaining quantity after sales.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1087" y="3417491"/>
            <a:ext cx="3378115" cy="2787551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6071" y="4090908"/>
            <a:ext cx="2108147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Warn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56071" y="4488081"/>
            <a:ext cx="21081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stock creates an immediate reorder warning.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03995" y="3417491"/>
            <a:ext cx="3378115" cy="2787551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7" name="Text 15"/>
          <p:cNvSpPr/>
          <p:nvPr/>
        </p:nvSpPr>
        <p:spPr>
          <a:xfrm>
            <a:off x="8813580" y="4065508"/>
            <a:ext cx="2158946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Build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13580" y="4462681"/>
            <a:ext cx="215894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Foundational Java, classes, strings, and the Collections Framework.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4" name="Text 1"/>
          <p:cNvSpPr/>
          <p:nvPr/>
        </p:nvSpPr>
        <p:spPr>
          <a:xfrm>
            <a:off x="6553036" y="258127"/>
            <a:ext cx="563865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OPERATIONAL GAP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53036" y="641925"/>
            <a:ext cx="5029074" cy="231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problem is operational, not just computational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553036" y="3282097"/>
            <a:ext cx="502907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Manual records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53036" y="3648293"/>
            <a:ext cx="502907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 levels are harder to validate and search.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53036" y="4367252"/>
            <a:ext cx="502907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Late reaction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53036" y="4733449"/>
            <a:ext cx="502907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stock needs an immediate reorder warning.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53036" y="5452408"/>
            <a:ext cx="502907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Scattered records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53036" y="5818604"/>
            <a:ext cx="502907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Products need one structure for storage, lookup, and updates.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53036" y="4124523"/>
            <a:ext cx="5029074" cy="127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6553036" y="5209679"/>
            <a:ext cx="5029074" cy="12700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6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D7E0E8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705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D7E0E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flow connects input to reorder action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192437"/>
            <a:ext cx="1950691" cy="3040261"/>
          </a:xfrm>
          <a:prstGeom prst="roundRect">
            <a:avLst>
              <a:gd name="adj" fmla="val 586"/>
            </a:avLst>
          </a:prstGeom>
          <a:solidFill>
            <a:srgbClr val="0B0F1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80" y="244643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780" y="2766516"/>
            <a:ext cx="1544202" cy="1905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2910820"/>
            <a:ext cx="154430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Collect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2780" y="3277017"/>
            <a:ext cx="154430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 product details through Scanner input.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4969" y="2192437"/>
            <a:ext cx="1950691" cy="3040261"/>
          </a:xfrm>
          <a:prstGeom prst="roundRect">
            <a:avLst>
              <a:gd name="adj" fmla="val 586"/>
            </a:avLst>
          </a:prstGeom>
          <a:solidFill>
            <a:srgbClr val="0B0F1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164" y="244643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68164" y="2766516"/>
            <a:ext cx="1544202" cy="1905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2" name="Text 10"/>
          <p:cNvSpPr/>
          <p:nvPr/>
        </p:nvSpPr>
        <p:spPr>
          <a:xfrm>
            <a:off x="3068164" y="2910820"/>
            <a:ext cx="154430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68164" y="3277017"/>
            <a:ext cx="1544301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 duplicate IDs, empty names, and negative values.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353" y="2192437"/>
            <a:ext cx="1950889" cy="3040261"/>
          </a:xfrm>
          <a:prstGeom prst="roundRect">
            <a:avLst>
              <a:gd name="adj" fmla="val 586"/>
            </a:avLst>
          </a:prstGeom>
          <a:solidFill>
            <a:srgbClr val="0B0F1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3548" y="244643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23548" y="2766516"/>
            <a:ext cx="1544400" cy="1905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17" name="Text 15"/>
          <p:cNvSpPr/>
          <p:nvPr/>
        </p:nvSpPr>
        <p:spPr>
          <a:xfrm>
            <a:off x="5323548" y="2910820"/>
            <a:ext cx="1544500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Store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323548" y="3277017"/>
            <a:ext cx="154450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products in a List, unique IDs in a Set, and ID lookups in a Map.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75936" y="2192437"/>
            <a:ext cx="1950691" cy="3040261"/>
          </a:xfrm>
          <a:prstGeom prst="roundRect">
            <a:avLst>
              <a:gd name="adj" fmla="val 586"/>
            </a:avLst>
          </a:prstGeom>
          <a:solidFill>
            <a:srgbClr val="0B0F1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9131" y="244643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79131" y="2766516"/>
            <a:ext cx="1544202" cy="1905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2" name="Text 20"/>
          <p:cNvSpPr/>
          <p:nvPr/>
        </p:nvSpPr>
        <p:spPr>
          <a:xfrm>
            <a:off x="7579131" y="2910820"/>
            <a:ext cx="1544301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Act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79131" y="3277017"/>
            <a:ext cx="154430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stock value, process a sale, and compare quantity with reorder level.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31320" y="2192437"/>
            <a:ext cx="1950790" cy="3040261"/>
          </a:xfrm>
          <a:prstGeom prst="roundRect">
            <a:avLst>
              <a:gd name="adj" fmla="val 586"/>
            </a:avLst>
          </a:prstGeom>
          <a:solidFill>
            <a:srgbClr val="0B0F1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34515" y="244643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834515" y="2766516"/>
            <a:ext cx="1544400" cy="1905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27" name="Text 25"/>
          <p:cNvSpPr/>
          <p:nvPr/>
        </p:nvSpPr>
        <p:spPr>
          <a:xfrm>
            <a:off x="9834515" y="2910820"/>
            <a:ext cx="1544400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Search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834515" y="3277017"/>
            <a:ext cx="1544400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 by product name and display the result.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099" cy="6858000"/>
          </a:xfrm>
          <a:prstGeom prst="rect">
            <a:avLst/>
          </a:prstGeom>
          <a:solidFill>
            <a:srgbClr val="2F80ED"/>
          </a:solidFill>
          <a:ln/>
        </p:spPr>
      </p:sp>
      <p:sp>
        <p:nvSpPr>
          <p:cNvPr id="4" name="Text 2"/>
          <p:cNvSpPr/>
          <p:nvPr/>
        </p:nvSpPr>
        <p:spPr>
          <a:xfrm>
            <a:off x="647684" y="562927"/>
            <a:ext cx="422899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 1 · FOUNDATIONS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7684" y="1327805"/>
            <a:ext cx="3822604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100" spc="-36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1 turns warehouse logic into Java decisions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7684" y="3273524"/>
            <a:ext cx="3822604" cy="1920081"/>
          </a:xfrm>
          <a:prstGeom prst="roundRect">
            <a:avLst>
              <a:gd name="adj" fmla="val 595"/>
            </a:avLst>
          </a:prstGeom>
          <a:solidFill>
            <a:srgbClr val="151C24"/>
          </a:solidFill>
          <a:ln/>
        </p:spPr>
      </p:sp>
      <p:sp>
        <p:nvSpPr>
          <p:cNvPr id="7" name="Text 5"/>
          <p:cNvSpPr/>
          <p:nvPr/>
        </p:nvSpPr>
        <p:spPr>
          <a:xfrm>
            <a:off x="921918" y="3502124"/>
            <a:ext cx="3274137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totalValue = price * quantity;</a:t>
            </a:r>
            <a:endParaRPr lang="en-US" sz="1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reorder = quantity &lt;= reorderLevel;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33867" y="533400"/>
            <a:ext cx="2971726" cy="2356346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0" y="787400"/>
            <a:ext cx="571486" cy="571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87860" y="1603692"/>
            <a:ext cx="2463738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Variables &amp; data types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87860" y="2266910"/>
            <a:ext cx="271773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 product details.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10385" y="533400"/>
            <a:ext cx="2971726" cy="2356346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378" y="787400"/>
            <a:ext cx="571486" cy="571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64378" y="1603692"/>
            <a:ext cx="2463738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Operators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864378" y="2001500"/>
            <a:ext cx="246373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stock value and remaining quantity.</a:t>
            </a:r>
            <a:endParaRPr lang="en-US" sz="1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0" y="3448546"/>
            <a:ext cx="571486" cy="571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87860" y="4264839"/>
            <a:ext cx="2463738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Loops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587860" y="4662646"/>
            <a:ext cx="246373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multiple products.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7276917" y="3352076"/>
            <a:ext cx="2971726" cy="2356346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Final </a:t>
            </a:r>
            <a:r>
              <a:rPr lang="en-IN" dirty="0" err="1">
                <a:solidFill>
                  <a:schemeClr val="bg1"/>
                </a:solidFill>
              </a:rPr>
              <a:t>intREORDERLevel</a:t>
            </a:r>
            <a:r>
              <a:rPr lang="en-IN" dirty="0">
                <a:solidFill>
                  <a:schemeClr val="bg1"/>
                </a:solidFill>
              </a:rPr>
              <a:t> = 10;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Int quantity = </a:t>
            </a:r>
            <a:r>
              <a:rPr lang="en-IN" dirty="0" err="1">
                <a:solidFill>
                  <a:schemeClr val="bg1"/>
                </a:solidFill>
              </a:rPr>
              <a:t>scanner.nextInt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String status = (quantity &lt;</a:t>
            </a:r>
            <a:r>
              <a:rPr lang="en-IN" dirty="0" err="1">
                <a:solidFill>
                  <a:schemeClr val="bg1"/>
                </a:solidFill>
              </a:rPr>
              <a:t>REORDERLevel</a:t>
            </a:r>
            <a:r>
              <a:rPr lang="en-IN" dirty="0">
                <a:solidFill>
                  <a:schemeClr val="bg1"/>
                </a:solidFill>
              </a:rPr>
              <a:t>) ?</a:t>
            </a:r>
          </a:p>
        </p:txBody>
      </p:sp>
      <p:sp>
        <p:nvSpPr>
          <p:cNvPr id="22" name="Text 16"/>
          <p:cNvSpPr/>
          <p:nvPr/>
        </p:nvSpPr>
        <p:spPr>
          <a:xfrm>
            <a:off x="8864378" y="4264839"/>
            <a:ext cx="2463738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864378" y="4662646"/>
            <a:ext cx="246373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21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 2 · CONTROL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959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2 controls repetition and validation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223552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repeats the work while protecting the records.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744192"/>
            <a:ext cx="3454314" cy="1893491"/>
          </a:xfrm>
          <a:prstGeom prst="roundRect">
            <a:avLst>
              <a:gd name="adj" fmla="val 604"/>
            </a:avLst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8978" y="3087410"/>
            <a:ext cx="2895528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8978" y="3484582"/>
            <a:ext cx="289552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Repeats product entry and product display.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2744192"/>
            <a:ext cx="3454314" cy="1893491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4622684" y="3062010"/>
            <a:ext cx="2946326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22684" y="3459182"/>
            <a:ext cx="29463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Rejects duplicate IDs, empty names, and invalid values.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2744192"/>
            <a:ext cx="3454314" cy="1893491"/>
          </a:xfrm>
          <a:prstGeom prst="roundRect">
            <a:avLst>
              <a:gd name="adj" fmla="val 604"/>
            </a:avLst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7190" y="3087410"/>
            <a:ext cx="2895528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while-style flow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07190" y="3484582"/>
            <a:ext cx="289552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the input and sales flow through repetition and selection.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4894858"/>
            <a:ext cx="10972526" cy="822920"/>
          </a:xfrm>
          <a:prstGeom prst="roundRect">
            <a:avLst>
              <a:gd name="adj" fmla="val 1389"/>
            </a:avLst>
          </a:prstGeom>
          <a:solidFill>
            <a:srgbClr val="151C24"/>
          </a:solidFill>
          <a:ln/>
        </p:spPr>
      </p:sp>
      <p:sp>
        <p:nvSpPr>
          <p:cNvPr id="15" name="Text 13"/>
          <p:cNvSpPr/>
          <p:nvPr/>
        </p:nvSpPr>
        <p:spPr>
          <a:xfrm>
            <a:off x="883819" y="5123458"/>
            <a:ext cx="1103364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(productIds.contains(id)) { i--; continue; }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21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 3 · DECOMPOSITION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959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3 decomposes the program into reusable operations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217837"/>
            <a:ext cx="3454314" cy="2418655"/>
          </a:xfrm>
          <a:prstGeom prst="roundRect">
            <a:avLst>
              <a:gd name="adj" fmla="val 473"/>
            </a:avLst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" y="2548037"/>
            <a:ext cx="810795" cy="347365"/>
          </a:xfrm>
          <a:prstGeom prst="roundRect">
            <a:avLst>
              <a:gd name="adj" fmla="val 329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494" y="2626770"/>
            <a:ext cx="1146146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377" y="3060819"/>
            <a:ext cx="2844729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WarehouseProduct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377" y="3457992"/>
            <a:ext cx="284472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Groups fields and related behavior in one class.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8691" y="2217837"/>
            <a:ext cx="3454314" cy="2418655"/>
          </a:xfrm>
          <a:prstGeom prst="roundRect">
            <a:avLst>
              <a:gd name="adj" fmla="val 473"/>
            </a:avLst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3483" y="2548037"/>
            <a:ext cx="1121640" cy="347365"/>
          </a:xfrm>
          <a:prstGeom prst="roundRect">
            <a:avLst>
              <a:gd name="adj" fmla="val 3290"/>
            </a:avLst>
          </a:prstGeom>
          <a:solidFill>
            <a:srgbClr val="062246"/>
          </a:solidFill>
          <a:ln/>
        </p:spPr>
      </p:sp>
      <p:sp>
        <p:nvSpPr>
          <p:cNvPr id="11" name="Text 9"/>
          <p:cNvSpPr/>
          <p:nvPr/>
        </p:nvSpPr>
        <p:spPr>
          <a:xfrm>
            <a:off x="4810600" y="2626770"/>
            <a:ext cx="145699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73483" y="3060819"/>
            <a:ext cx="2844729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Reusable operations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73483" y="3457992"/>
            <a:ext cx="284472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total value, check reorder status, and display details.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2217837"/>
            <a:ext cx="3454314" cy="2418655"/>
          </a:xfrm>
          <a:prstGeom prst="roundRect">
            <a:avLst>
              <a:gd name="adj" fmla="val 473"/>
            </a:avLst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2589" y="2548037"/>
            <a:ext cx="939280" cy="347365"/>
          </a:xfrm>
          <a:prstGeom prst="roundRect">
            <a:avLst>
              <a:gd name="adj" fmla="val 3290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9706" y="2626770"/>
            <a:ext cx="127463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32589" y="3060819"/>
            <a:ext cx="2844729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One record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32589" y="3457992"/>
            <a:ext cx="284472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object represents one product record.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585" y="4893667"/>
            <a:ext cx="10972526" cy="822920"/>
          </a:xfrm>
          <a:prstGeom prst="roundRect">
            <a:avLst>
              <a:gd name="adj" fmla="val 1389"/>
            </a:avLst>
          </a:prstGeom>
          <a:solidFill>
            <a:srgbClr val="151C24"/>
          </a:solidFill>
          <a:ln/>
        </p:spPr>
      </p:sp>
      <p:sp>
        <p:nvSpPr>
          <p:cNvPr id="20" name="Text 18"/>
          <p:cNvSpPr/>
          <p:nvPr/>
        </p:nvSpPr>
        <p:spPr>
          <a:xfrm>
            <a:off x="883819" y="5122267"/>
            <a:ext cx="11033643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getTotalValue() { return price * quantity; }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0422"/>
            <a:ext cx="4267093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4F7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 4 · OBJECT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3452907"/>
            <a:ext cx="3860703" cy="295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100" b="1" kern="100" spc="-4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4 – Object-Oriented Modelling, Design &amp; Exception Handling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5283068" y="482600"/>
            <a:ext cx="2997125" cy="3036887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62461" y="769022"/>
            <a:ext cx="2717732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4F7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CONSTRUCTOR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62461" y="1037287"/>
            <a:ext cx="2438339" cy="19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WarehouseProduct()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62461" y="1334121"/>
            <a:ext cx="2438339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Initializes product ID, name, price, quantity, and reorder level.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84985" y="482600"/>
            <a:ext cx="2997125" cy="3036887"/>
          </a:xfrm>
          <a:prstGeom prst="rect">
            <a:avLst/>
          </a:prstGeom>
          <a:solidFill>
            <a:srgbClr val="151C24"/>
          </a:solidFill>
          <a:ln w="25399">
            <a:solidFill>
              <a:srgbClr val="2351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4378" y="769022"/>
            <a:ext cx="2717732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4F7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4378" y="1037287"/>
            <a:ext cx="2438339" cy="19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Product behavior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4378" y="1334121"/>
            <a:ext cx="243833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Keeps product calculations with the product object.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283068" y="3824288"/>
            <a:ext cx="6299042" cy="3036887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4" name="Text 12"/>
          <p:cNvSpPr/>
          <p:nvPr/>
        </p:nvSpPr>
        <p:spPr>
          <a:xfrm>
            <a:off x="5587860" y="4110709"/>
            <a:ext cx="5994250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4F7FA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DECISION METHOD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87860" y="4392584"/>
            <a:ext cx="5689458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050" b="1" kern="100" spc="-3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needsReorder()</a:t>
            </a:r>
            <a:endParaRPr lang="en-US" sz="3050" dirty="0"/>
          </a:p>
        </p:txBody>
      </p:sp>
      <p:sp>
        <p:nvSpPr>
          <p:cNvPr id="16" name="Text 14"/>
          <p:cNvSpPr/>
          <p:nvPr/>
        </p:nvSpPr>
        <p:spPr>
          <a:xfrm>
            <a:off x="5587860" y="4893659"/>
            <a:ext cx="5994250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Returns true when quantity is at or below the reorder level.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587860" y="5354439"/>
            <a:ext cx="5689458" cy="1009055"/>
          </a:xfrm>
          <a:prstGeom prst="roundRect">
            <a:avLst>
              <a:gd name="adj" fmla="val 1133"/>
            </a:avLst>
          </a:prstGeom>
          <a:solidFill>
            <a:srgbClr val="151C24"/>
          </a:solidFill>
          <a:ln/>
        </p:spPr>
      </p:sp>
      <p:sp>
        <p:nvSpPr>
          <p:cNvPr id="18" name="Text 16"/>
          <p:cNvSpPr/>
          <p:nvPr/>
        </p:nvSpPr>
        <p:spPr>
          <a:xfrm>
            <a:off x="5820721" y="5548511"/>
            <a:ext cx="5223737" cy="62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needsReorder() { return quantity &lt;= reorderLevel; }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14833"/>
            <a:ext cx="1158211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3" dirty="0">
                <a:solidFill>
                  <a:srgbClr val="F2A93B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 5 · STRINGS &amp;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14528"/>
            <a:ext cx="10972526" cy="98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100" b="1" kern="100" spc="-4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5 makes product data searchable and valid</a:t>
            </a:r>
            <a:endParaRPr lang="en-US" sz="4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2137464"/>
            <a:ext cx="389225" cy="389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98265" y="2171351"/>
            <a:ext cx="429279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5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trim()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498265" y="2493656"/>
            <a:ext cx="4597583" cy="2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Removes surrounding spaces from product names.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498265" y="2926259"/>
            <a:ext cx="4292790" cy="700584"/>
          </a:xfrm>
          <a:prstGeom prst="roundRect">
            <a:avLst>
              <a:gd name="adj" fmla="val 1631"/>
            </a:avLst>
          </a:prstGeom>
          <a:solidFill>
            <a:srgbClr val="151C24"/>
          </a:solidFill>
          <a:ln/>
        </p:spPr>
      </p:sp>
      <p:sp>
        <p:nvSpPr>
          <p:cNvPr id="8" name="Text 5"/>
          <p:cNvSpPr/>
          <p:nvPr/>
        </p:nvSpPr>
        <p:spPr>
          <a:xfrm>
            <a:off x="1731820" y="3120827"/>
            <a:ext cx="4364028" cy="31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sc.nextLine().trim();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2137464"/>
            <a:ext cx="389225" cy="3892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84528" y="2171351"/>
            <a:ext cx="429279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5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isEmpty()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984528" y="2493656"/>
            <a:ext cx="4597583" cy="2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Rejects a missing product name.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" y="4614559"/>
            <a:ext cx="389225" cy="3892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98265" y="4648446"/>
            <a:ext cx="429279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5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equalsIgnoreCase()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1498265" y="4970752"/>
            <a:ext cx="4597583" cy="2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Finds a product without requiring exact capitalization.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498265" y="5403354"/>
            <a:ext cx="4292790" cy="1012031"/>
          </a:xfrm>
          <a:prstGeom prst="roundRect">
            <a:avLst>
              <a:gd name="adj" fmla="val 1129"/>
            </a:avLst>
          </a:prstGeom>
          <a:solidFill>
            <a:srgbClr val="151C24"/>
          </a:solidFill>
          <a:ln/>
        </p:spPr>
      </p:sp>
      <p:sp>
        <p:nvSpPr>
          <p:cNvPr id="16" name="Text 11"/>
          <p:cNvSpPr/>
          <p:nvPr/>
        </p:nvSpPr>
        <p:spPr>
          <a:xfrm>
            <a:off x="1731820" y="5597922"/>
            <a:ext cx="3825680" cy="622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product.productName.equalsIgnoreCase(searchName)</a:t>
            </a:r>
            <a:endParaRPr lang="en-US" sz="15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640" y="4614559"/>
            <a:ext cx="389225" cy="3892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84528" y="4648446"/>
            <a:ext cx="429279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50" kern="100" spc="-19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Current boundary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6984528" y="4970752"/>
            <a:ext cx="4292790" cy="448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revised implementation does not yet save records to a file or database.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089498" y="1908770"/>
            <a:ext cx="12700" cy="2477095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Shape 15"/>
          <p:cNvSpPr/>
          <p:nvPr/>
        </p:nvSpPr>
        <p:spPr>
          <a:xfrm>
            <a:off x="609585" y="4379516"/>
            <a:ext cx="5486263" cy="127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Shape 16"/>
          <p:cNvSpPr/>
          <p:nvPr/>
        </p:nvSpPr>
        <p:spPr>
          <a:xfrm>
            <a:off x="6089498" y="4385866"/>
            <a:ext cx="12700" cy="2477095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Shape 17"/>
          <p:cNvSpPr/>
          <p:nvPr/>
        </p:nvSpPr>
        <p:spPr>
          <a:xfrm>
            <a:off x="6095848" y="4379516"/>
            <a:ext cx="5486263" cy="12700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6936"/>
            <a:ext cx="1158211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kern="100" spc="115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 6 · COLLECTIONS FRAMEWORK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09585" y="624266"/>
            <a:ext cx="10972526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550" b="1" kern="100" spc="-35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6 uses collections for flexible product storage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609585" y="1139298"/>
            <a:ext cx="1158211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structures, three jobs. Streams and lambda expressions are not part of this version.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286000"/>
            <a:ext cx="3860703" cy="2286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7" y="2413000"/>
            <a:ext cx="1837684" cy="10336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997" y="3687333"/>
            <a:ext cx="3606710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System context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5496" y="2286000"/>
            <a:ext cx="3860703" cy="2286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493" y="2413000"/>
            <a:ext cx="1837684" cy="10336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2493" y="3687333"/>
            <a:ext cx="3606710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Module architecture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330992" y="2286000"/>
            <a:ext cx="3860703" cy="2286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88" y="2413000"/>
            <a:ext cx="1837684" cy="10336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57988" y="3687333"/>
            <a:ext cx="3606710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 gallery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7" name="Shape 12"/>
          <p:cNvSpPr/>
          <p:nvPr/>
        </p:nvSpPr>
        <p:spPr>
          <a:xfrm>
            <a:off x="243288" y="4762446"/>
            <a:ext cx="3735031" cy="796727"/>
          </a:xfrm>
          <a:custGeom>
            <a:avLst/>
            <a:gdLst/>
            <a:ahLst/>
            <a:cxnLst/>
            <a:rect l="l" t="t" r="r" b="b"/>
            <a:pathLst>
              <a:path w="3657509" h="923727">
                <a:moveTo>
                  <a:pt x="9525" y="0"/>
                </a:moveTo>
                <a:lnTo>
                  <a:pt x="3657509" y="0"/>
                </a:lnTo>
                <a:lnTo>
                  <a:pt x="3657509" y="923727"/>
                </a:lnTo>
                <a:lnTo>
                  <a:pt x="9525" y="923727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51C2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3"/>
          <p:cNvSpPr/>
          <p:nvPr/>
        </p:nvSpPr>
        <p:spPr>
          <a:xfrm>
            <a:off x="863578" y="4827951"/>
            <a:ext cx="3149521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List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3578" y="5097060"/>
            <a:ext cx="3403515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product objects.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267093" y="4572000"/>
            <a:ext cx="3657509" cy="923727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21" name="Text 16"/>
          <p:cNvSpPr/>
          <p:nvPr/>
        </p:nvSpPr>
        <p:spPr>
          <a:xfrm>
            <a:off x="4521087" y="4827951"/>
            <a:ext cx="3149521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521087" y="5097060"/>
            <a:ext cx="3403515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Prevents duplicate product IDs.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924602" y="4572000"/>
            <a:ext cx="3657509" cy="923727"/>
          </a:xfrm>
          <a:custGeom>
            <a:avLst/>
            <a:gdLst/>
            <a:ahLst/>
            <a:cxnLst/>
            <a:rect l="l" t="t" r="r" b="b"/>
            <a:pathLst>
              <a:path w="3657509" h="923727">
                <a:moveTo>
                  <a:pt x="0" y="0"/>
                </a:moveTo>
                <a:lnTo>
                  <a:pt x="3647984" y="0"/>
                </a:lnTo>
                <a:arcTo wR="9525" hR="9525" stAng="16200000" swAng="5400000"/>
                <a:lnTo>
                  <a:pt x="3657509" y="914202"/>
                </a:lnTo>
                <a:arcTo wR="9525" hR="9525" stAng="0" swAng="5400000"/>
                <a:lnTo>
                  <a:pt x="0" y="923727"/>
                </a:lnTo>
                <a:lnTo>
                  <a:pt x="0" y="0"/>
                </a:lnTo>
                <a:close/>
              </a:path>
            </a:pathLst>
          </a:custGeom>
          <a:solidFill>
            <a:srgbClr val="151C24"/>
          </a:solidFill>
          <a:ln/>
        </p:spPr>
      </p:sp>
      <p:sp>
        <p:nvSpPr>
          <p:cNvPr id="24" name="Text 19"/>
          <p:cNvSpPr/>
          <p:nvPr/>
        </p:nvSpPr>
        <p:spPr>
          <a:xfrm>
            <a:off x="8178595" y="4827951"/>
            <a:ext cx="3149521" cy="195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kern="100" spc="-16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Map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178595" y="5097060"/>
            <a:ext cx="3403515" cy="181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D7E0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Connects each ID to its product for fast lookup.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09585" y="5685036"/>
            <a:ext cx="10972526" cy="1144091"/>
          </a:xfrm>
          <a:prstGeom prst="roundRect">
            <a:avLst>
              <a:gd name="adj" fmla="val 999"/>
            </a:avLst>
          </a:prstGeom>
          <a:solidFill>
            <a:srgbClr val="151C24"/>
          </a:solidFill>
          <a:ln/>
        </p:spPr>
      </p:sp>
      <p:sp>
        <p:nvSpPr>
          <p:cNvPr id="27" name="Text 22"/>
          <p:cNvSpPr/>
          <p:nvPr/>
        </p:nvSpPr>
        <p:spPr>
          <a:xfrm>
            <a:off x="811490" y="5853311"/>
            <a:ext cx="10568715" cy="80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List&lt;WarehouseProduct&gt; products = new ArrayList&lt;&gt;();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Set&lt;Integer&gt; productIds = new HashSet&lt;&gt;();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Map&lt;Integer, WarehouseProduct&gt; productMap = new HashMap&lt;&gt;();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4260743" y="4572000"/>
            <a:ext cx="12700" cy="923727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9" name="Shape 24"/>
          <p:cNvSpPr/>
          <p:nvPr/>
        </p:nvSpPr>
        <p:spPr>
          <a:xfrm>
            <a:off x="7918252" y="4572000"/>
            <a:ext cx="12700" cy="923727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51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EVIDENCE GALLERY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68925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Output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1517511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Screenshots of the running Warehouse Inventory and Reorder System.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3429000"/>
            <a:ext cx="3657509" cy="3175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3556000"/>
            <a:ext cx="1316898" cy="21589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67093" y="3429000"/>
            <a:ext cx="3657509" cy="3175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090" y="3556000"/>
            <a:ext cx="958032" cy="215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24602" y="3429000"/>
            <a:ext cx="3657509" cy="3175000"/>
          </a:xfrm>
          <a:prstGeom prst="rect">
            <a:avLst/>
          </a:prstGeom>
          <a:solidFill>
            <a:srgbClr val="151C2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599" y="3556000"/>
            <a:ext cx="1265007" cy="215890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60743" y="3429000"/>
            <a:ext cx="12700" cy="3175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Shape 9"/>
          <p:cNvSpPr/>
          <p:nvPr/>
        </p:nvSpPr>
        <p:spPr>
          <a:xfrm>
            <a:off x="7918252" y="3429000"/>
            <a:ext cx="12700" cy="3175000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51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kern="100" spc="156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68925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b="1" kern="100" spc="-4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1517511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fundamentals, object-oriented modelling, string validation, and the Collections Framework combine into one inventory system.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3429000"/>
            <a:ext cx="5486263" cy="3175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36960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What the system does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3578" y="4093190"/>
            <a:ext cx="497827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sz="1600" dirty="0">
                <a:solidFill>
                  <a:schemeClr val="bg1"/>
                </a:solidFill>
              </a:rPr>
              <a:t>The system stores product details, calculates stock value, processes sales, supports product searching, and identifies low-stock items that need reordering.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65178" y="3189466"/>
            <a:ext cx="5486263" cy="3175000"/>
          </a:xfrm>
          <a:prstGeom prst="rect">
            <a:avLst/>
          </a:prstGeom>
          <a:solidFill>
            <a:srgbClr val="151C24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3696017"/>
            <a:ext cx="4978275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kern="100" spc="-22" dirty="0">
                <a:solidFill>
                  <a:srgbClr val="D7E0E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Future improvements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49841" y="4093190"/>
            <a:ext cx="471693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>
              <a:lnSpc>
                <a:spcPct val="100000"/>
              </a:lnSpc>
            </a:pPr>
            <a:r>
              <a:rPr lang="en-IN" sz="3400" dirty="0">
                <a:solidFill>
                  <a:schemeClr val="bg1"/>
                </a:solidFill>
              </a:rPr>
              <a:t>In the future, we can improve the project by adding permanent data storage using a file or database, developing a graphical user interface, adding supplier management, generating inventory reports, and introducing role-based access.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9498" y="3429000"/>
            <a:ext cx="12700" cy="3175000"/>
          </a:xfrm>
          <a:prstGeom prst="rect">
            <a:avLst/>
          </a:prstGeom>
          <a:solidFill>
            <a:srgbClr val="F2A93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1021</Words>
  <Application>Microsoft Office PowerPoint</Application>
  <PresentationFormat>Widescreen</PresentationFormat>
  <Paragraphs>170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IBM Plex Sans Medium</vt:lpstr>
      <vt:lpstr>Consolas</vt:lpstr>
      <vt:lpstr>IBM Plex Sans SemiBold</vt:lpstr>
      <vt:lpstr>Space Grotesk Bold</vt:lpstr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aparnajha19@outlook.com</cp:lastModifiedBy>
  <cp:revision>4</cp:revision>
  <dcterms:created xsi:type="dcterms:W3CDTF">2026-10-16T03:52:39Z</dcterms:created>
  <dcterms:modified xsi:type="dcterms:W3CDTF">2026-10-16T14:11:46Z</dcterms:modified>
</cp:coreProperties>
</file>